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43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a Ibrahim" userId="e344061a032e0677" providerId="LiveId" clId="{67775C64-97E3-46A9-9F22-B077616423A0}"/>
    <pc:docChg chg="modSld">
      <pc:chgData name="Christiana Ibrahim" userId="e344061a032e0677" providerId="LiveId" clId="{67775C64-97E3-46A9-9F22-B077616423A0}" dt="2026-08-02T16:58:31.518" v="0" actId="1076"/>
      <pc:docMkLst>
        <pc:docMk/>
      </pc:docMkLst>
      <pc:sldChg chg="modSp mod">
        <pc:chgData name="Christiana Ibrahim" userId="e344061a032e0677" providerId="LiveId" clId="{67775C64-97E3-46A9-9F22-B077616423A0}" dt="2026-08-02T16:58:31.518" v="0" actId="1076"/>
        <pc:sldMkLst>
          <pc:docMk/>
          <pc:sldMk cId="0" sldId="261"/>
        </pc:sldMkLst>
        <pc:picChg chg="mod">
          <ac:chgData name="Christiana Ibrahim" userId="e344061a032e0677" providerId="LiveId" clId="{67775C64-97E3-46A9-9F22-B077616423A0}" dt="2026-08-02T16:58:31.518" v="0" actId="1076"/>
          <ac:picMkLst>
            <pc:docMk/>
            <pc:sldMk cId="0" sldId="261"/>
            <ac:picMk id="4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6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9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9538" y="-3810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836398"/>
            <a:ext cx="11601450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 dirty="0" err="1">
                <a:solidFill>
                  <a:srgbClr val="F8FAFC"/>
                </a:solidFill>
                <a:latin typeface="Poppins"/>
              </a:rPr>
              <a:t>ArcticStar</a:t>
            </a:r>
            <a:r>
              <a:rPr sz="4500" b="1" i="0" u="none" dirty="0">
                <a:solidFill>
                  <a:srgbClr val="F8FAFC"/>
                </a:solidFill>
                <a:latin typeface="Poppins"/>
              </a:rPr>
              <a:t> Sales &amp; Operations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14750" y="3054582"/>
            <a:ext cx="47625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>
                <a:solidFill>
                  <a:srgbClr val="94A3B8"/>
                </a:solidFill>
                <a:latin typeface="Lato"/>
              </a:rPr>
              <a:t>3MTT End-of-Cohort Technical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97241" y="4637773"/>
            <a:ext cx="299751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rgbClr val="CBD5E1"/>
                </a:solidFill>
                <a:latin typeface="Lato"/>
              </a:rPr>
              <a:t>Presenter:</a:t>
            </a:r>
            <a:r>
              <a:rPr lang="en-US" sz="1350" b="1" i="0" u="none" dirty="0">
                <a:solidFill>
                  <a:srgbClr val="CBD5E1"/>
                </a:solidFill>
                <a:latin typeface="Lato"/>
              </a:rPr>
              <a:t> Christiana Ibrahim</a:t>
            </a:r>
            <a:endParaRPr sz="1350" b="1" i="0" u="none" dirty="0">
              <a:solidFill>
                <a:srgbClr val="CBD5E1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900" y="3052762"/>
            <a:ext cx="4800600" cy="1647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3205162"/>
            <a:ext cx="4495800" cy="1066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4700" y="3690937"/>
            <a:ext cx="990600" cy="428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0" y="3690937"/>
            <a:ext cx="990600" cy="4286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0" y="3690937"/>
            <a:ext cx="990600" cy="4286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5100" y="3690937"/>
            <a:ext cx="990600" cy="4286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Medium"/>
              </a:rPr>
              <a:t>Problem </a:t>
            </a:r>
            <a:r>
              <a:rPr sz="2700" b="0" i="0" u="none">
                <a:solidFill>
                  <a:srgbClr val="38BDF8"/>
                </a:solidFill>
                <a:latin typeface="Poppins Medium"/>
              </a:rPr>
              <a:t>Statement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1500" y="2495550"/>
            <a:ext cx="5867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Lato"/>
              </a:rPr>
              <a:t>Retail and logistics organizations struggle to monitor key performance metrics due to unorganized data silos and fragmented reporting.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3257550"/>
            <a:ext cx="55816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Lato"/>
              </a:rPr>
              <a:t>Inability to track fulfillment speed, order counts, and employee throughput in real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3924300"/>
            <a:ext cx="55816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Lato"/>
              </a:rPr>
              <a:t>Hidden shipping cost anomalies across various international shipping regions and couriers.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4591050"/>
            <a:ext cx="55816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Lato"/>
              </a:rPr>
              <a:t>Absence of centralized business intelligence stalling rapid managerial decision-making.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2300" y="4386262"/>
            <a:ext cx="4495800" cy="1619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Lato Medium"/>
              </a:rPr>
              <a:t>Siloed data creates operational blind spots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276600"/>
            <a:ext cx="85725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943350"/>
            <a:ext cx="85725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610100"/>
            <a:ext cx="85725" cy="1809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124700" y="3357562"/>
            <a:ext cx="419100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Lato"/>
              </a:rPr>
              <a:t>Executive Overview Analytics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24700" y="3586162"/>
            <a:ext cx="4191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2887" y="4405312"/>
            <a:ext cx="133350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63300" y="3357562"/>
            <a:ext cx="152400" cy="152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00900" y="3767137"/>
            <a:ext cx="838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Lato"/>
              </a:rPr>
              <a:t>$1.27M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0900" y="3929062"/>
            <a:ext cx="8382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94A3B8"/>
                </a:solidFill>
                <a:latin typeface="Lato"/>
              </a:rPr>
              <a:t>Revenue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7700" y="3767137"/>
            <a:ext cx="838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Lato"/>
              </a:rPr>
              <a:t>830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7700" y="3929062"/>
            <a:ext cx="8382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94A3B8"/>
                </a:solidFill>
                <a:latin typeface="Lato"/>
              </a:rPr>
              <a:t>Orders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4500" y="3767137"/>
            <a:ext cx="838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Lato"/>
              </a:rPr>
              <a:t>$64.94K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4500" y="3929062"/>
            <a:ext cx="8382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94A3B8"/>
                </a:solidFill>
                <a:latin typeface="Lato"/>
              </a:rPr>
              <a:t>Shipping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01300" y="3767137"/>
            <a:ext cx="838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Lato"/>
              </a:rPr>
              <a:t>8.49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01300" y="3929062"/>
            <a:ext cx="8382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94A3B8"/>
                </a:solidFill>
                <a:latin typeface="Lato"/>
              </a:rPr>
              <a:t>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36068"/>
            <a:ext cx="3524250" cy="20812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836068"/>
            <a:ext cx="3524250" cy="20812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836068"/>
            <a:ext cx="3524250" cy="2081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Medium"/>
              </a:rPr>
              <a:t>Project Overview &amp; </a:t>
            </a:r>
            <a:r>
              <a:rPr sz="2700" b="0" i="0" u="none">
                <a:solidFill>
                  <a:srgbClr val="38BDF8"/>
                </a:solidFill>
                <a:latin typeface="Poppins Medium"/>
              </a:rPr>
              <a:t>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93520" y="3645693"/>
            <a:ext cx="16802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Poppins"/>
              </a:rPr>
              <a:t>Executive BI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026693"/>
            <a:ext cx="31242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Lato"/>
              </a:rPr>
              <a:t>An interactive, multi-page analytics suite providing real-time visibility into revenue, total orders, and freight expenses.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5873" y="3645693"/>
            <a:ext cx="202025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Poppins"/>
              </a:rPr>
              <a:t>Custom DAX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3900" y="4026693"/>
            <a:ext cx="31242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Lato"/>
              </a:rPr>
              <a:t>Engineered clean calculation measures to evaluate processing times, distinct order volumes, and financial metrics.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38260" y="3645693"/>
            <a:ext cx="184023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Poppins"/>
              </a:rPr>
              <a:t>Dynamic Filtering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6275" y="4026693"/>
            <a:ext cx="31242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Lato"/>
              </a:rPr>
              <a:t>Equipped with responsive page slicers (Date, Country, City, Product) allowing instant cross-filtering and data segmentation.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8362" y="3131343"/>
            <a:ext cx="390525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7412" y="3131343"/>
            <a:ext cx="25717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86925" y="3131343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36068"/>
            <a:ext cx="3524250" cy="20812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836068"/>
            <a:ext cx="3524250" cy="20812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836068"/>
            <a:ext cx="3524250" cy="2081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Medium"/>
              </a:rPr>
              <a:t>Tools &amp; </a:t>
            </a:r>
            <a:r>
              <a:rPr sz="2700" b="0" i="0" u="none">
                <a:solidFill>
                  <a:srgbClr val="38BDF8"/>
                </a:solidFill>
                <a:latin typeface="Poppins Medium"/>
              </a:rPr>
              <a:t>Technologies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58515" y="3645693"/>
            <a:ext cx="175021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Poppins"/>
              </a:rPr>
              <a:t>Power BI Desktop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026693"/>
            <a:ext cx="31242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Lato"/>
              </a:rPr>
              <a:t>Primary BI platform utilized for report authoring, interactive canvas design, and visual hierarchy setup.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10876" y="3645693"/>
            <a:ext cx="19702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Poppins"/>
              </a:rPr>
              <a:t>DAX &amp; Power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3900" y="4026693"/>
            <a:ext cx="31242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Lato"/>
              </a:rPr>
              <a:t>Advanced data transformation, relational schema building, and measure formulation for robust calculations.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219" y="3645693"/>
            <a:ext cx="249031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Poppins"/>
              </a:rPr>
              <a:t>Relational Data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6275" y="4026693"/>
            <a:ext cx="31242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Lato"/>
              </a:rPr>
              <a:t>Structured relational tables encompassing Orders, Order Details, Products, Customers, Employees, and Shippers.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1225" y="3131343"/>
            <a:ext cx="304800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1687" y="3131343"/>
            <a:ext cx="42862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9787" y="3131343"/>
            <a:ext cx="257175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900" y="2833687"/>
            <a:ext cx="4800600" cy="2085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986087"/>
            <a:ext cx="4495800" cy="1504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Medium"/>
              </a:rPr>
              <a:t>Methodology &amp; </a:t>
            </a:r>
            <a:r>
              <a:rPr sz="2700" b="0" i="0" u="none">
                <a:solidFill>
                  <a:srgbClr val="38BDF8"/>
                </a:solidFill>
                <a:latin typeface="Poppins Medium"/>
              </a:rPr>
              <a:t>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7250" y="2543175"/>
            <a:ext cx="55816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Lato"/>
              </a:rPr>
              <a:t>Step 1 - Data Ingestion:</a:t>
            </a:r>
            <a:r>
              <a:rPr sz="1350" b="0" i="0" u="none">
                <a:solidFill>
                  <a:srgbClr val="CBD5E1"/>
                </a:solidFill>
                <a:latin typeface="Lato"/>
              </a:rPr>
              <a:t> Imported raw relational database tables into Power Query for cleansing and formatting.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209925"/>
            <a:ext cx="55816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Lato"/>
              </a:rPr>
              <a:t>Step 2 - Star Schema Modeling:</a:t>
            </a:r>
            <a:r>
              <a:rPr sz="1350" b="0" i="0" u="none">
                <a:solidFill>
                  <a:srgbClr val="CBD5E1"/>
                </a:solidFill>
                <a:latin typeface="Lato"/>
              </a:rPr>
              <a:t> Built primary keys and active foreign key relationships across lookup and fact tables.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876675"/>
            <a:ext cx="55816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Lato"/>
              </a:rPr>
              <a:t>Step 3 - Measure Development:</a:t>
            </a:r>
            <a:r>
              <a:rPr sz="1350" b="0" i="0" u="none">
                <a:solidFill>
                  <a:srgbClr val="CBD5E1"/>
                </a:solidFill>
                <a:latin typeface="Lato"/>
              </a:rPr>
              <a:t> Wrote custom DAX expressions for Total Revenue, Total Orders, and Processing Durations.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543425"/>
            <a:ext cx="55816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Lato"/>
              </a:rPr>
              <a:t>Step 4 - UI/UX Layout Design:</a:t>
            </a:r>
            <a:r>
              <a:rPr sz="1350" b="0" i="0" u="none">
                <a:solidFill>
                  <a:srgbClr val="CBD5E1"/>
                </a:solidFill>
                <a:latin typeface="Lato"/>
              </a:rPr>
              <a:t> Designed dedicated Executive Overview and Manager Efficiency pages with structured slicers.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2300" y="4605337"/>
            <a:ext cx="4495800" cy="1619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Lato Medium"/>
              </a:rPr>
              <a:t>Data Model Verified &amp; Active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562225"/>
            <a:ext cx="85725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28975"/>
            <a:ext cx="85725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95725"/>
            <a:ext cx="85725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62475"/>
            <a:ext cx="85725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5887" y="3186112"/>
            <a:ext cx="428625" cy="3429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43862" y="3671887"/>
            <a:ext cx="23526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Lato"/>
              </a:rPr>
              <a:t>Star Schema Relational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2325" y="3986212"/>
            <a:ext cx="40957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4A3B8"/>
                </a:solidFill>
                <a:latin typeface="Lato"/>
              </a:rPr>
              <a:t>Orders (Fact) connected to Customers, Employees, Shippers &amp; Order Details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8650" y="4624387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900" y="2805112"/>
            <a:ext cx="4800600" cy="2143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3049904"/>
            <a:ext cx="4495800" cy="1562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Medium"/>
              </a:rPr>
              <a:t>Dashboard Results &amp; </a:t>
            </a:r>
            <a:r>
              <a:rPr sz="2700" b="0" i="0" u="none">
                <a:solidFill>
                  <a:srgbClr val="38BDF8"/>
                </a:solidFill>
                <a:latin typeface="Poppins Medium"/>
              </a:rPr>
              <a:t>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2547937"/>
            <a:ext cx="58674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Lato"/>
              </a:rPr>
              <a:t>The live Power BI dashboard delivers immediate operational clarity: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2947987"/>
            <a:ext cx="55816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Lato"/>
              </a:rPr>
              <a:t>Executive View:</a:t>
            </a:r>
            <a:r>
              <a:rPr sz="1350" b="0" i="0" u="none">
                <a:solidFill>
                  <a:srgbClr val="CBD5E1"/>
                </a:solidFill>
                <a:latin typeface="Lato"/>
              </a:rPr>
              <a:t> High-level tracking showing $1.27M Total Revenue, 830 Total Orders, and $64.94K Shipping Costs.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614737"/>
            <a:ext cx="55816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Lato"/>
              </a:rPr>
              <a:t>Manager Benchmarking:</a:t>
            </a:r>
            <a:r>
              <a:rPr sz="1350" b="0" i="0" u="none">
                <a:solidFill>
                  <a:srgbClr val="CBD5E1"/>
                </a:solidFill>
                <a:latin typeface="Lato"/>
              </a:rPr>
              <a:t> Staff processing speed metrics highlighting top performers like Laura Callahan (8.66 days) and Margaret Peacock (8.00 days).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538662"/>
            <a:ext cx="55816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Lato"/>
              </a:rPr>
              <a:t>Interactive Filtering:</a:t>
            </a:r>
            <a:r>
              <a:rPr sz="1350" b="0" i="0" u="none">
                <a:solidFill>
                  <a:srgbClr val="CBD5E1"/>
                </a:solidFill>
                <a:latin typeface="Lato"/>
              </a:rPr>
              <a:t> Date, Country, City, and Product slicers enabling deep-dive regional analysis.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2300" y="4633912"/>
            <a:ext cx="4495800" cy="16192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Lato Medium"/>
              </a:rPr>
              <a:t>Live Dashboard Snapshot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67037"/>
            <a:ext cx="85725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33787"/>
            <a:ext cx="85725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57712"/>
            <a:ext cx="85725" cy="1809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24700" y="3109912"/>
            <a:ext cx="419100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Lato"/>
              </a:rPr>
              <a:t>Manager Efficiency Page View</a:t>
            </a:r>
            <a:r>
              <a:rPr sz="1200" b="0" i="0" u="none">
                <a:solidFill>
                  <a:srgbClr val="38BDF8"/>
                </a:solidFill>
                <a:latin typeface="Lato"/>
              </a:rPr>
              <a:t>Power BI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24700" y="3309937"/>
            <a:ext cx="4191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3425" y="4652962"/>
            <a:ext cx="1524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36068"/>
            <a:ext cx="3524250" cy="20812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836068"/>
            <a:ext cx="3524250" cy="20812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836068"/>
            <a:ext cx="3524250" cy="2081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Medium"/>
              </a:rPr>
              <a:t>Conclusion &amp; </a:t>
            </a:r>
            <a:r>
              <a:rPr sz="2700" b="0" i="0" u="none">
                <a:solidFill>
                  <a:srgbClr val="38BDF8"/>
                </a:solidFill>
                <a:latin typeface="Poppins Medium"/>
              </a:rPr>
              <a:t>Future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18523" y="3645693"/>
            <a:ext cx="163020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Poppins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026693"/>
            <a:ext cx="31242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Lato"/>
              </a:rPr>
              <a:t>Successfully transformed raw relational records into an executive BI tool, streamlining retail supply-chain oversight.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45856" y="3645693"/>
            <a:ext cx="230028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Poppins"/>
              </a:rPr>
              <a:t>Challenges Overcome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3900" y="4026693"/>
            <a:ext cx="31242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Lato"/>
              </a:rPr>
              <a:t>Resolved data model relationship errors and streamlined KPI card decimal formatting for crisp professional reporting.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3234" y="3645693"/>
            <a:ext cx="225028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Poppins"/>
              </a:rPr>
              <a:t>Future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6275" y="4026693"/>
            <a:ext cx="31242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Lato"/>
              </a:rPr>
              <a:t>Plan to connect live server data sources and deploy automated stakeholder alert notifications in upcoming phases.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1225" y="3131343"/>
            <a:ext cx="304800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4550" y="3131343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86925" y="3131343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475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Lato</vt:lpstr>
      <vt:lpstr>Lato Medium</vt:lpstr>
      <vt:lpstr>Poppins</vt:lpstr>
      <vt:lpstr>Poppins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CHRISTIANA</dc:creator>
  <cp:keywords/>
  <dc:description>generated using python-pptx</dc:description>
  <cp:lastModifiedBy>Christiana Ibrahim</cp:lastModifiedBy>
  <cp:revision>4</cp:revision>
  <dcterms:created xsi:type="dcterms:W3CDTF">2013-01-27T09:14:16Z</dcterms:created>
  <dcterms:modified xsi:type="dcterms:W3CDTF">2026-08-02T17:03:10Z</dcterms:modified>
  <cp:category/>
</cp:coreProperties>
</file>