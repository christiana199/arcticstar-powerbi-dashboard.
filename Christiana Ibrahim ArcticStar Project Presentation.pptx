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3" d="100"/>
          <a:sy n="73" d="100"/>
        </p:scale>
        <p:origin x="420" y="6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7/31/2026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3793"/>
            <a:ext cx="12192000" cy="6858000"/>
          </a:xfrm>
          <a:prstGeom prst="rect">
            <a:avLst/>
          </a:prstGeom>
        </p:spPr>
      </p:pic>
      <p:pic>
        <p:nvPicPr>
          <p:cNvPr id="3" name="Picture 2" descr="image.png"/>
          <p:cNvPicPr>
            <a:picLocks noChangeAspect="1"/>
          </p:cNvPicPr>
          <p:nvPr/>
        </p:nvPicPr>
        <p:blipFill>
          <a:blip r:embed="rId3"/>
          <a:stretch>
            <a:fillRect/>
          </a:stretch>
        </p:blipFill>
        <p:spPr>
          <a:xfrm>
            <a:off x="4717731" y="4802090"/>
            <a:ext cx="2695575" cy="619125"/>
          </a:xfrm>
          <a:prstGeom prst="rect">
            <a:avLst/>
          </a:prstGeom>
        </p:spPr>
      </p:pic>
      <p:sp>
        <p:nvSpPr>
          <p:cNvPr id="4" name="TextBox 3"/>
          <p:cNvSpPr txBox="1"/>
          <p:nvPr/>
        </p:nvSpPr>
        <p:spPr>
          <a:xfrm>
            <a:off x="2106011" y="663401"/>
            <a:ext cx="7770971" cy="1009650"/>
          </a:xfrm>
          <a:prstGeom prst="rect">
            <a:avLst/>
          </a:prstGeom>
          <a:noFill/>
        </p:spPr>
        <p:txBody>
          <a:bodyPr wrap="square" lIns="0" tIns="0" rIns="0" bIns="0" anchor="t">
            <a:spAutoFit/>
          </a:bodyPr>
          <a:lstStyle/>
          <a:p>
            <a:pPr algn="ctr"/>
            <a:r>
              <a:rPr sz="5250" b="1" i="0" u="none" dirty="0" err="1">
                <a:solidFill>
                  <a:srgbClr val="F8FAFC"/>
                </a:solidFill>
                <a:latin typeface="Poppins"/>
              </a:rPr>
              <a:t>ArcticStar</a:t>
            </a:r>
            <a:r>
              <a:rPr sz="5250" b="1" i="0" u="none" dirty="0">
                <a:solidFill>
                  <a:srgbClr val="F8FAFC"/>
                </a:solidFill>
                <a:latin typeface="Poppins"/>
              </a:rPr>
              <a:t> Dashboard</a:t>
            </a:r>
          </a:p>
        </p:txBody>
      </p:sp>
      <p:sp>
        <p:nvSpPr>
          <p:cNvPr id="5" name="TextBox 4"/>
          <p:cNvSpPr txBox="1"/>
          <p:nvPr/>
        </p:nvSpPr>
        <p:spPr>
          <a:xfrm>
            <a:off x="2276203" y="1690241"/>
            <a:ext cx="6934200" cy="365670"/>
          </a:xfrm>
          <a:prstGeom prst="rect">
            <a:avLst/>
          </a:prstGeom>
          <a:noFill/>
        </p:spPr>
        <p:txBody>
          <a:bodyPr wrap="square" lIns="0" tIns="0" rIns="0" bIns="0" anchor="t">
            <a:spAutoFit/>
          </a:bodyPr>
          <a:lstStyle/>
          <a:p>
            <a:pPr algn="ctr">
              <a:lnSpc>
                <a:spcPts val="2879"/>
              </a:lnSpc>
            </a:pPr>
            <a:r>
              <a:rPr sz="1800" b="0" i="0" u="none" dirty="0">
                <a:solidFill>
                  <a:srgbClr val="94A3B8"/>
                </a:solidFill>
                <a:latin typeface="Lato"/>
              </a:rPr>
              <a:t>Optimizing Retail &amp; Logistics through Interactive Business Intelligence</a:t>
            </a:r>
          </a:p>
        </p:txBody>
      </p:sp>
      <p:sp>
        <p:nvSpPr>
          <p:cNvPr id="6" name="TextBox 5"/>
          <p:cNvSpPr txBox="1"/>
          <p:nvPr/>
        </p:nvSpPr>
        <p:spPr>
          <a:xfrm>
            <a:off x="4643708" y="3670877"/>
            <a:ext cx="2695575" cy="209550"/>
          </a:xfrm>
          <a:prstGeom prst="rect">
            <a:avLst/>
          </a:prstGeom>
          <a:noFill/>
        </p:spPr>
        <p:txBody>
          <a:bodyPr wrap="square" lIns="0" tIns="0" rIns="0" bIns="0" anchor="t">
            <a:spAutoFit/>
          </a:bodyPr>
          <a:lstStyle/>
          <a:p>
            <a:pPr algn="ctr"/>
            <a:r>
              <a:rPr sz="1350" b="1" i="0" u="none">
                <a:solidFill>
                  <a:srgbClr val="CBD5E1"/>
                </a:solidFill>
                <a:latin typeface="Lato"/>
              </a:rPr>
              <a:t>End-of-Cohort Project Presentation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334125" y="2081212"/>
            <a:ext cx="5286375" cy="3810000"/>
          </a:xfrm>
          <a:prstGeom prst="rect">
            <a:avLst/>
          </a:prstGeom>
        </p:spPr>
      </p:pic>
      <p:pic>
        <p:nvPicPr>
          <p:cNvPr id="4" name="Picture 3" descr="image.png"/>
          <p:cNvPicPr>
            <a:picLocks noChangeAspect="1"/>
          </p:cNvPicPr>
          <p:nvPr/>
        </p:nvPicPr>
        <p:blipFill>
          <a:blip r:embed="rId4"/>
          <a:stretch>
            <a:fillRect/>
          </a:stretch>
        </p:blipFill>
        <p:spPr>
          <a:xfrm>
            <a:off x="11986617" y="76200"/>
            <a:ext cx="129182" cy="180975"/>
          </a:xfrm>
          <a:prstGeom prst="rect">
            <a:avLst/>
          </a:prstGeom>
        </p:spPr>
      </p:pic>
      <p:sp>
        <p:nvSpPr>
          <p:cNvPr id="5" name="TextBox 4"/>
          <p:cNvSpPr txBox="1"/>
          <p:nvPr/>
        </p:nvSpPr>
        <p:spPr>
          <a:xfrm>
            <a:off x="571500" y="571500"/>
            <a:ext cx="11601450" cy="590550"/>
          </a:xfrm>
          <a:prstGeom prst="rect">
            <a:avLst/>
          </a:prstGeom>
          <a:noFill/>
        </p:spPr>
        <p:txBody>
          <a:bodyPr wrap="square" lIns="0" tIns="0" rIns="0" bIns="0" anchor="t">
            <a:spAutoFit/>
          </a:bodyPr>
          <a:lstStyle/>
          <a:p>
            <a:pPr algn="l"/>
            <a:r>
              <a:rPr sz="3000" b="0" i="0" u="none">
                <a:solidFill>
                  <a:srgbClr val="F8FAFC"/>
                </a:solidFill>
                <a:latin typeface="Poppins Medium"/>
              </a:rPr>
              <a:t>The </a:t>
            </a:r>
            <a:r>
              <a:rPr sz="3000" b="0" i="0" u="none">
                <a:solidFill>
                  <a:srgbClr val="38BDF8"/>
                </a:solidFill>
                <a:latin typeface="Poppins Medium"/>
              </a:rPr>
              <a:t>Problem</a:t>
            </a:r>
          </a:p>
        </p:txBody>
      </p:sp>
      <p:sp>
        <p:nvSpPr>
          <p:cNvPr id="6" name="Rectangle 5"/>
          <p:cNvSpPr/>
          <p:nvPr/>
        </p:nvSpPr>
        <p:spPr>
          <a:xfrm>
            <a:off x="571500" y="1285875"/>
            <a:ext cx="11049000" cy="19050"/>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71500" y="2081212"/>
            <a:ext cx="5286375" cy="1005482"/>
          </a:xfrm>
          <a:prstGeom prst="rect">
            <a:avLst/>
          </a:prstGeom>
          <a:noFill/>
        </p:spPr>
        <p:txBody>
          <a:bodyPr wrap="square" lIns="0" tIns="0" rIns="0" bIns="0" anchor="t">
            <a:spAutoFit/>
          </a:bodyPr>
          <a:lstStyle/>
          <a:p>
            <a:pPr algn="l">
              <a:lnSpc>
                <a:spcPts val="2640"/>
              </a:lnSpc>
            </a:pPr>
            <a:r>
              <a:rPr sz="1650" b="0" i="0" u="none">
                <a:solidFill>
                  <a:srgbClr val="CBD5E1"/>
                </a:solidFill>
                <a:latin typeface="Lato"/>
              </a:rPr>
              <a:t>Retail businesses currently struggle to monitor operational performance due to fragmented and unstructured data.</a:t>
            </a:r>
          </a:p>
        </p:txBody>
      </p:sp>
      <p:sp>
        <p:nvSpPr>
          <p:cNvPr id="8" name="TextBox 7"/>
          <p:cNvSpPr txBox="1"/>
          <p:nvPr/>
        </p:nvSpPr>
        <p:spPr>
          <a:xfrm>
            <a:off x="857250" y="3372445"/>
            <a:ext cx="5000625" cy="304800"/>
          </a:xfrm>
          <a:prstGeom prst="rect">
            <a:avLst/>
          </a:prstGeom>
          <a:noFill/>
        </p:spPr>
        <p:txBody>
          <a:bodyPr wrap="square" lIns="0" tIns="0" rIns="0" bIns="0" anchor="t">
            <a:spAutoFit/>
          </a:bodyPr>
          <a:lstStyle/>
          <a:p>
            <a:pPr algn="l">
              <a:lnSpc>
                <a:spcPts val="2400"/>
              </a:lnSpc>
            </a:pPr>
            <a:r>
              <a:rPr sz="1500" b="0" i="0" u="none">
                <a:solidFill>
                  <a:srgbClr val="CBD5E1"/>
                </a:solidFill>
                <a:latin typeface="Lato"/>
              </a:rPr>
              <a:t>Inability to accurately track manager performance and speed.</a:t>
            </a:r>
          </a:p>
        </p:txBody>
      </p:sp>
      <p:sp>
        <p:nvSpPr>
          <p:cNvPr id="9" name="TextBox 8"/>
          <p:cNvSpPr txBox="1"/>
          <p:nvPr/>
        </p:nvSpPr>
        <p:spPr>
          <a:xfrm>
            <a:off x="857250" y="3867745"/>
            <a:ext cx="5000625" cy="304800"/>
          </a:xfrm>
          <a:prstGeom prst="rect">
            <a:avLst/>
          </a:prstGeom>
          <a:noFill/>
        </p:spPr>
        <p:txBody>
          <a:bodyPr wrap="square" lIns="0" tIns="0" rIns="0" bIns="0" anchor="t">
            <a:spAutoFit/>
          </a:bodyPr>
          <a:lstStyle/>
          <a:p>
            <a:pPr algn="l">
              <a:lnSpc>
                <a:spcPts val="2400"/>
              </a:lnSpc>
            </a:pPr>
            <a:r>
              <a:rPr sz="1500" b="0" i="0" u="none">
                <a:solidFill>
                  <a:srgbClr val="CBD5E1"/>
                </a:solidFill>
                <a:latin typeface="Lato"/>
              </a:rPr>
              <a:t>Lack of visibility into fluctuating shipping costs.</a:t>
            </a:r>
          </a:p>
        </p:txBody>
      </p:sp>
      <p:sp>
        <p:nvSpPr>
          <p:cNvPr id="10" name="TextBox 9"/>
          <p:cNvSpPr txBox="1"/>
          <p:nvPr/>
        </p:nvSpPr>
        <p:spPr>
          <a:xfrm>
            <a:off x="857250" y="4363045"/>
            <a:ext cx="5000625" cy="304800"/>
          </a:xfrm>
          <a:prstGeom prst="rect">
            <a:avLst/>
          </a:prstGeom>
          <a:noFill/>
        </p:spPr>
        <p:txBody>
          <a:bodyPr wrap="square" lIns="0" tIns="0" rIns="0" bIns="0" anchor="t">
            <a:spAutoFit/>
          </a:bodyPr>
          <a:lstStyle/>
          <a:p>
            <a:pPr algn="l">
              <a:lnSpc>
                <a:spcPts val="2400"/>
              </a:lnSpc>
            </a:pPr>
            <a:r>
              <a:rPr sz="1500" b="0" i="0" u="none">
                <a:solidFill>
                  <a:srgbClr val="CBD5E1"/>
                </a:solidFill>
                <a:latin typeface="Lato"/>
              </a:rPr>
              <a:t>Difficulty analyzing daily revenue trends across regions.</a:t>
            </a:r>
          </a:p>
        </p:txBody>
      </p:sp>
      <p:sp>
        <p:nvSpPr>
          <p:cNvPr id="11" name="TextBox 10"/>
          <p:cNvSpPr txBox="1"/>
          <p:nvPr/>
        </p:nvSpPr>
        <p:spPr>
          <a:xfrm>
            <a:off x="857250" y="4858345"/>
            <a:ext cx="5000625" cy="304800"/>
          </a:xfrm>
          <a:prstGeom prst="rect">
            <a:avLst/>
          </a:prstGeom>
          <a:noFill/>
        </p:spPr>
        <p:txBody>
          <a:bodyPr wrap="square" lIns="0" tIns="0" rIns="0" bIns="0" anchor="t">
            <a:spAutoFit/>
          </a:bodyPr>
          <a:lstStyle/>
          <a:p>
            <a:pPr algn="l">
              <a:lnSpc>
                <a:spcPts val="2400"/>
              </a:lnSpc>
            </a:pPr>
            <a:r>
              <a:rPr sz="1500" b="0" i="0" u="none">
                <a:solidFill>
                  <a:srgbClr val="CBD5E1"/>
                </a:solidFill>
                <a:latin typeface="Lato"/>
              </a:rPr>
              <a:t>Logistical bottlenecks remain hidden in static spreadsheets.</a:t>
            </a:r>
          </a:p>
        </p:txBody>
      </p:sp>
      <p:pic>
        <p:nvPicPr>
          <p:cNvPr id="12" name="Picture 11" descr="image.png"/>
          <p:cNvPicPr>
            <a:picLocks noChangeAspect="1"/>
          </p:cNvPicPr>
          <p:nvPr/>
        </p:nvPicPr>
        <p:blipFill>
          <a:blip r:embed="rId5"/>
          <a:stretch>
            <a:fillRect/>
          </a:stretch>
        </p:blipFill>
        <p:spPr>
          <a:xfrm>
            <a:off x="6343650" y="2090737"/>
            <a:ext cx="5267325" cy="3790950"/>
          </a:xfrm>
          <a:prstGeom prst="rect">
            <a:avLst/>
          </a:prstGeom>
        </p:spPr>
      </p:pic>
      <p:pic>
        <p:nvPicPr>
          <p:cNvPr id="13" name="Picture 12" descr="image.png"/>
          <p:cNvPicPr>
            <a:picLocks noChangeAspect="1"/>
          </p:cNvPicPr>
          <p:nvPr/>
        </p:nvPicPr>
        <p:blipFill>
          <a:blip r:embed="rId6"/>
          <a:stretch>
            <a:fillRect/>
          </a:stretch>
        </p:blipFill>
        <p:spPr>
          <a:xfrm>
            <a:off x="571500" y="3391495"/>
            <a:ext cx="95250" cy="200025"/>
          </a:xfrm>
          <a:prstGeom prst="rect">
            <a:avLst/>
          </a:prstGeom>
        </p:spPr>
      </p:pic>
      <p:pic>
        <p:nvPicPr>
          <p:cNvPr id="14" name="Picture 13" descr="image.png"/>
          <p:cNvPicPr>
            <a:picLocks noChangeAspect="1"/>
          </p:cNvPicPr>
          <p:nvPr/>
        </p:nvPicPr>
        <p:blipFill>
          <a:blip r:embed="rId6"/>
          <a:stretch>
            <a:fillRect/>
          </a:stretch>
        </p:blipFill>
        <p:spPr>
          <a:xfrm>
            <a:off x="571500" y="3886795"/>
            <a:ext cx="95250" cy="200025"/>
          </a:xfrm>
          <a:prstGeom prst="rect">
            <a:avLst/>
          </a:prstGeom>
        </p:spPr>
      </p:pic>
      <p:pic>
        <p:nvPicPr>
          <p:cNvPr id="15" name="Picture 14" descr="image.png"/>
          <p:cNvPicPr>
            <a:picLocks noChangeAspect="1"/>
          </p:cNvPicPr>
          <p:nvPr/>
        </p:nvPicPr>
        <p:blipFill>
          <a:blip r:embed="rId6"/>
          <a:stretch>
            <a:fillRect/>
          </a:stretch>
        </p:blipFill>
        <p:spPr>
          <a:xfrm>
            <a:off x="571500" y="4382095"/>
            <a:ext cx="95250" cy="200025"/>
          </a:xfrm>
          <a:prstGeom prst="rect">
            <a:avLst/>
          </a:prstGeom>
        </p:spPr>
      </p:pic>
      <p:pic>
        <p:nvPicPr>
          <p:cNvPr id="16" name="Picture 15" descr="image.png"/>
          <p:cNvPicPr>
            <a:picLocks noChangeAspect="1"/>
          </p:cNvPicPr>
          <p:nvPr/>
        </p:nvPicPr>
        <p:blipFill>
          <a:blip r:embed="rId6"/>
          <a:stretch>
            <a:fillRect/>
          </a:stretch>
        </p:blipFill>
        <p:spPr>
          <a:xfrm>
            <a:off x="571500" y="4877395"/>
            <a:ext cx="95250" cy="20002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2404169"/>
            <a:ext cx="3429000" cy="3164085"/>
          </a:xfrm>
          <a:prstGeom prst="rect">
            <a:avLst/>
          </a:prstGeom>
        </p:spPr>
      </p:pic>
      <p:pic>
        <p:nvPicPr>
          <p:cNvPr id="4" name="Picture 3" descr="image.png"/>
          <p:cNvPicPr>
            <a:picLocks noChangeAspect="1"/>
          </p:cNvPicPr>
          <p:nvPr/>
        </p:nvPicPr>
        <p:blipFill>
          <a:blip r:embed="rId4"/>
          <a:stretch>
            <a:fillRect/>
          </a:stretch>
        </p:blipFill>
        <p:spPr>
          <a:xfrm>
            <a:off x="4381500" y="2404169"/>
            <a:ext cx="3429000" cy="3164085"/>
          </a:xfrm>
          <a:prstGeom prst="rect">
            <a:avLst/>
          </a:prstGeom>
        </p:spPr>
      </p:pic>
      <p:pic>
        <p:nvPicPr>
          <p:cNvPr id="5" name="Picture 4" descr="image.png"/>
          <p:cNvPicPr>
            <a:picLocks noChangeAspect="1"/>
          </p:cNvPicPr>
          <p:nvPr/>
        </p:nvPicPr>
        <p:blipFill>
          <a:blip r:embed="rId5"/>
          <a:stretch>
            <a:fillRect/>
          </a:stretch>
        </p:blipFill>
        <p:spPr>
          <a:xfrm>
            <a:off x="8191500" y="2404169"/>
            <a:ext cx="3429000" cy="3164085"/>
          </a:xfrm>
          <a:prstGeom prst="rect">
            <a:avLst/>
          </a:prstGeom>
        </p:spPr>
      </p:pic>
      <p:sp>
        <p:nvSpPr>
          <p:cNvPr id="6" name="TextBox 5"/>
          <p:cNvSpPr txBox="1"/>
          <p:nvPr/>
        </p:nvSpPr>
        <p:spPr>
          <a:xfrm>
            <a:off x="571500" y="571500"/>
            <a:ext cx="11601450" cy="590550"/>
          </a:xfrm>
          <a:prstGeom prst="rect">
            <a:avLst/>
          </a:prstGeom>
          <a:noFill/>
        </p:spPr>
        <p:txBody>
          <a:bodyPr wrap="square" lIns="0" tIns="0" rIns="0" bIns="0" anchor="t">
            <a:spAutoFit/>
          </a:bodyPr>
          <a:lstStyle/>
          <a:p>
            <a:pPr algn="l"/>
            <a:r>
              <a:rPr sz="3000" b="0" i="0" u="none">
                <a:solidFill>
                  <a:srgbClr val="F8FAFC"/>
                </a:solidFill>
                <a:latin typeface="Poppins Medium"/>
              </a:rPr>
              <a:t>Our </a:t>
            </a:r>
            <a:r>
              <a:rPr sz="3000" b="0" i="0" u="none">
                <a:solidFill>
                  <a:srgbClr val="38BDF8"/>
                </a:solidFill>
                <a:latin typeface="Poppins Medium"/>
              </a:rPr>
              <a:t>Solution</a:t>
            </a:r>
          </a:p>
        </p:txBody>
      </p:sp>
      <p:sp>
        <p:nvSpPr>
          <p:cNvPr id="7" name="Rectangle 6"/>
          <p:cNvSpPr/>
          <p:nvPr/>
        </p:nvSpPr>
        <p:spPr>
          <a:xfrm>
            <a:off x="571500" y="1285875"/>
            <a:ext cx="11049000" cy="19050"/>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235868" y="3604319"/>
            <a:ext cx="2100262" cy="333375"/>
          </a:xfrm>
          <a:prstGeom prst="rect">
            <a:avLst/>
          </a:prstGeom>
          <a:noFill/>
        </p:spPr>
        <p:txBody>
          <a:bodyPr wrap="square" lIns="0" tIns="0" rIns="0" bIns="0" anchor="t">
            <a:spAutoFit/>
          </a:bodyPr>
          <a:lstStyle/>
          <a:p>
            <a:pPr algn="ctr"/>
            <a:r>
              <a:rPr sz="1800" b="1" i="0" u="none">
                <a:solidFill>
                  <a:srgbClr val="F8FAFC"/>
                </a:solidFill>
                <a:latin typeface="Poppins"/>
              </a:rPr>
              <a:t>Centralized Data</a:t>
            </a:r>
          </a:p>
        </p:txBody>
      </p:sp>
      <p:sp>
        <p:nvSpPr>
          <p:cNvPr id="9" name="TextBox 8"/>
          <p:cNvSpPr txBox="1"/>
          <p:nvPr/>
        </p:nvSpPr>
        <p:spPr>
          <a:xfrm>
            <a:off x="866775" y="4080569"/>
            <a:ext cx="2838450" cy="1097160"/>
          </a:xfrm>
          <a:prstGeom prst="rect">
            <a:avLst/>
          </a:prstGeom>
          <a:noFill/>
        </p:spPr>
        <p:txBody>
          <a:bodyPr wrap="square" lIns="0" tIns="0" rIns="0" bIns="0" anchor="t">
            <a:spAutoFit/>
          </a:bodyPr>
          <a:lstStyle/>
          <a:p>
            <a:pPr algn="ctr">
              <a:lnSpc>
                <a:spcPts val="2160"/>
              </a:lnSpc>
            </a:pPr>
            <a:r>
              <a:rPr sz="1350" b="0" i="0" u="none">
                <a:solidFill>
                  <a:srgbClr val="CBD5E1"/>
                </a:solidFill>
                <a:latin typeface="Lato"/>
              </a:rPr>
              <a:t>We built a robust, 1-to-many relational Star Schema connecting fragmented sales, shipping, product, and employee records.</a:t>
            </a:r>
          </a:p>
        </p:txBody>
      </p:sp>
      <p:sp>
        <p:nvSpPr>
          <p:cNvPr id="10" name="TextBox 9"/>
          <p:cNvSpPr txBox="1"/>
          <p:nvPr/>
        </p:nvSpPr>
        <p:spPr>
          <a:xfrm>
            <a:off x="5320903" y="3604319"/>
            <a:ext cx="1550193" cy="333375"/>
          </a:xfrm>
          <a:prstGeom prst="rect">
            <a:avLst/>
          </a:prstGeom>
          <a:noFill/>
        </p:spPr>
        <p:txBody>
          <a:bodyPr wrap="square" lIns="0" tIns="0" rIns="0" bIns="0" anchor="t">
            <a:spAutoFit/>
          </a:bodyPr>
          <a:lstStyle/>
          <a:p>
            <a:pPr algn="ctr"/>
            <a:r>
              <a:rPr sz="1800" b="1" i="0" u="none">
                <a:solidFill>
                  <a:srgbClr val="F8FAFC"/>
                </a:solidFill>
                <a:latin typeface="Poppins"/>
              </a:rPr>
              <a:t>Custom DAX</a:t>
            </a:r>
          </a:p>
        </p:txBody>
      </p:sp>
      <p:sp>
        <p:nvSpPr>
          <p:cNvPr id="11" name="TextBox 10"/>
          <p:cNvSpPr txBox="1"/>
          <p:nvPr/>
        </p:nvSpPr>
        <p:spPr>
          <a:xfrm>
            <a:off x="4676775" y="4080569"/>
            <a:ext cx="2838450" cy="1097160"/>
          </a:xfrm>
          <a:prstGeom prst="rect">
            <a:avLst/>
          </a:prstGeom>
          <a:noFill/>
        </p:spPr>
        <p:txBody>
          <a:bodyPr wrap="square" lIns="0" tIns="0" rIns="0" bIns="0" anchor="t">
            <a:spAutoFit/>
          </a:bodyPr>
          <a:lstStyle/>
          <a:p>
            <a:pPr algn="ctr">
              <a:lnSpc>
                <a:spcPts val="2160"/>
              </a:lnSpc>
            </a:pPr>
            <a:r>
              <a:rPr sz="1350" b="0" i="0" u="none">
                <a:solidFill>
                  <a:srgbClr val="CBD5E1"/>
                </a:solidFill>
                <a:latin typeface="Lato"/>
              </a:rPr>
              <a:t>Engineered dynamic backend calculations to measure exact processing times, distinct order counts, and net shipping costs.</a:t>
            </a:r>
          </a:p>
        </p:txBody>
      </p:sp>
      <p:sp>
        <p:nvSpPr>
          <p:cNvPr id="12" name="TextBox 11"/>
          <p:cNvSpPr txBox="1"/>
          <p:nvPr/>
        </p:nvSpPr>
        <p:spPr>
          <a:xfrm>
            <a:off x="9075896" y="3604319"/>
            <a:ext cx="1660207" cy="333375"/>
          </a:xfrm>
          <a:prstGeom prst="rect">
            <a:avLst/>
          </a:prstGeom>
          <a:noFill/>
        </p:spPr>
        <p:txBody>
          <a:bodyPr wrap="square" lIns="0" tIns="0" rIns="0" bIns="0" anchor="t">
            <a:spAutoFit/>
          </a:bodyPr>
          <a:lstStyle/>
          <a:p>
            <a:pPr algn="ctr"/>
            <a:r>
              <a:rPr sz="1800" b="1" i="0" u="none">
                <a:solidFill>
                  <a:srgbClr val="F8FAFC"/>
                </a:solidFill>
                <a:latin typeface="Poppins"/>
              </a:rPr>
              <a:t>Interactive UI</a:t>
            </a:r>
          </a:p>
        </p:txBody>
      </p:sp>
      <p:sp>
        <p:nvSpPr>
          <p:cNvPr id="13" name="TextBox 12"/>
          <p:cNvSpPr txBox="1"/>
          <p:nvPr/>
        </p:nvSpPr>
        <p:spPr>
          <a:xfrm>
            <a:off x="8486775" y="4080569"/>
            <a:ext cx="2838450" cy="1097160"/>
          </a:xfrm>
          <a:prstGeom prst="rect">
            <a:avLst/>
          </a:prstGeom>
          <a:noFill/>
        </p:spPr>
        <p:txBody>
          <a:bodyPr wrap="square" lIns="0" tIns="0" rIns="0" bIns="0" anchor="t">
            <a:spAutoFit/>
          </a:bodyPr>
          <a:lstStyle/>
          <a:p>
            <a:pPr algn="ctr">
              <a:lnSpc>
                <a:spcPts val="2160"/>
              </a:lnSpc>
            </a:pPr>
            <a:r>
              <a:rPr sz="1350" b="0" i="0" u="none">
                <a:solidFill>
                  <a:srgbClr val="CBD5E1"/>
                </a:solidFill>
                <a:latin typeface="Lato"/>
              </a:rPr>
              <a:t>A multi-page Power BI dashboard featuring dynamic slicers, allowing stakeholders to filter and analyze data instantly.</a:t>
            </a:r>
          </a:p>
        </p:txBody>
      </p:sp>
      <p:pic>
        <p:nvPicPr>
          <p:cNvPr id="14" name="Picture 13" descr="image.png"/>
          <p:cNvPicPr>
            <a:picLocks noChangeAspect="1"/>
          </p:cNvPicPr>
          <p:nvPr/>
        </p:nvPicPr>
        <p:blipFill>
          <a:blip r:embed="rId6"/>
          <a:stretch>
            <a:fillRect/>
          </a:stretch>
        </p:blipFill>
        <p:spPr>
          <a:xfrm>
            <a:off x="2085975" y="2851844"/>
            <a:ext cx="400050" cy="457200"/>
          </a:xfrm>
          <a:prstGeom prst="rect">
            <a:avLst/>
          </a:prstGeom>
        </p:spPr>
      </p:pic>
      <p:pic>
        <p:nvPicPr>
          <p:cNvPr id="15" name="Picture 14" descr="image.png"/>
          <p:cNvPicPr>
            <a:picLocks noChangeAspect="1"/>
          </p:cNvPicPr>
          <p:nvPr/>
        </p:nvPicPr>
        <p:blipFill>
          <a:blip r:embed="rId7"/>
          <a:stretch>
            <a:fillRect/>
          </a:stretch>
        </p:blipFill>
        <p:spPr>
          <a:xfrm>
            <a:off x="5924550" y="2851844"/>
            <a:ext cx="342900" cy="457200"/>
          </a:xfrm>
          <a:prstGeom prst="rect">
            <a:avLst/>
          </a:prstGeom>
        </p:spPr>
      </p:pic>
      <p:pic>
        <p:nvPicPr>
          <p:cNvPr id="16" name="Picture 15" descr="image.png"/>
          <p:cNvPicPr>
            <a:picLocks noChangeAspect="1"/>
          </p:cNvPicPr>
          <p:nvPr/>
        </p:nvPicPr>
        <p:blipFill>
          <a:blip r:embed="rId8"/>
          <a:stretch>
            <a:fillRect/>
          </a:stretch>
        </p:blipFill>
        <p:spPr>
          <a:xfrm>
            <a:off x="9677400" y="2851844"/>
            <a:ext cx="457200" cy="4572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2624137"/>
            <a:ext cx="5286375" cy="2724150"/>
          </a:xfrm>
          <a:prstGeom prst="rect">
            <a:avLst/>
          </a:prstGeom>
        </p:spPr>
      </p:pic>
      <p:pic>
        <p:nvPicPr>
          <p:cNvPr id="4" name="Picture 3" descr="image.png"/>
          <p:cNvPicPr>
            <a:picLocks noChangeAspect="1"/>
          </p:cNvPicPr>
          <p:nvPr/>
        </p:nvPicPr>
        <p:blipFill>
          <a:blip r:embed="rId4"/>
          <a:stretch>
            <a:fillRect/>
          </a:stretch>
        </p:blipFill>
        <p:spPr>
          <a:xfrm>
            <a:off x="962025" y="3014662"/>
            <a:ext cx="4505325" cy="1524000"/>
          </a:xfrm>
          <a:prstGeom prst="rect">
            <a:avLst/>
          </a:prstGeom>
        </p:spPr>
      </p:pic>
      <p:sp>
        <p:nvSpPr>
          <p:cNvPr id="5" name="TextBox 4"/>
          <p:cNvSpPr txBox="1"/>
          <p:nvPr/>
        </p:nvSpPr>
        <p:spPr>
          <a:xfrm>
            <a:off x="571500" y="571500"/>
            <a:ext cx="11601450" cy="590550"/>
          </a:xfrm>
          <a:prstGeom prst="rect">
            <a:avLst/>
          </a:prstGeom>
          <a:noFill/>
        </p:spPr>
        <p:txBody>
          <a:bodyPr wrap="square" lIns="0" tIns="0" rIns="0" bIns="0" anchor="t">
            <a:spAutoFit/>
          </a:bodyPr>
          <a:lstStyle/>
          <a:p>
            <a:pPr algn="l"/>
            <a:r>
              <a:rPr sz="3000" b="0" i="0" u="none">
                <a:solidFill>
                  <a:srgbClr val="F8FAFC"/>
                </a:solidFill>
                <a:latin typeface="Poppins Medium"/>
              </a:rPr>
              <a:t>Tracking What </a:t>
            </a:r>
            <a:r>
              <a:rPr sz="3000" b="0" i="0" u="none">
                <a:solidFill>
                  <a:srgbClr val="38BDF8"/>
                </a:solidFill>
                <a:latin typeface="Poppins Medium"/>
              </a:rPr>
              <a:t>Matters</a:t>
            </a:r>
          </a:p>
        </p:txBody>
      </p:sp>
      <p:sp>
        <p:nvSpPr>
          <p:cNvPr id="6" name="Rectangle 5"/>
          <p:cNvSpPr/>
          <p:nvPr/>
        </p:nvSpPr>
        <p:spPr>
          <a:xfrm>
            <a:off x="571500" y="1285875"/>
            <a:ext cx="11049000" cy="19050"/>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2025" y="4633912"/>
            <a:ext cx="4505325" cy="323850"/>
          </a:xfrm>
          <a:prstGeom prst="rect">
            <a:avLst/>
          </a:prstGeom>
          <a:noFill/>
        </p:spPr>
        <p:txBody>
          <a:bodyPr wrap="square" lIns="0" tIns="0" rIns="0" bIns="0" anchor="t">
            <a:spAutoFit/>
          </a:bodyPr>
          <a:lstStyle/>
          <a:p>
            <a:pPr algn="ctr"/>
            <a:r>
              <a:rPr sz="2100" b="0" i="0" u="none">
                <a:solidFill>
                  <a:srgbClr val="F8FAFC"/>
                </a:solidFill>
                <a:latin typeface="Lato Medium"/>
              </a:rPr>
              <a:t>Core KPIs Engineered</a:t>
            </a:r>
          </a:p>
        </p:txBody>
      </p:sp>
      <p:sp>
        <p:nvSpPr>
          <p:cNvPr id="8" name="TextBox 7"/>
          <p:cNvSpPr txBox="1"/>
          <p:nvPr/>
        </p:nvSpPr>
        <p:spPr>
          <a:xfrm>
            <a:off x="6334125" y="2073771"/>
            <a:ext cx="5550693" cy="457200"/>
          </a:xfrm>
          <a:prstGeom prst="rect">
            <a:avLst/>
          </a:prstGeom>
          <a:noFill/>
        </p:spPr>
        <p:txBody>
          <a:bodyPr wrap="square" lIns="0" tIns="0" rIns="0" bIns="0" anchor="t">
            <a:spAutoFit/>
          </a:bodyPr>
          <a:lstStyle/>
          <a:p>
            <a:pPr algn="l"/>
            <a:r>
              <a:rPr sz="2400" b="1" i="0" u="none">
                <a:solidFill>
                  <a:srgbClr val="38BDF8"/>
                </a:solidFill>
                <a:latin typeface="Poppins"/>
              </a:rPr>
              <a:t>Actionable Metrics at a Glance</a:t>
            </a:r>
          </a:p>
        </p:txBody>
      </p:sp>
      <p:sp>
        <p:nvSpPr>
          <p:cNvPr id="9" name="TextBox 8"/>
          <p:cNvSpPr txBox="1"/>
          <p:nvPr/>
        </p:nvSpPr>
        <p:spPr>
          <a:xfrm>
            <a:off x="6334125" y="2721471"/>
            <a:ext cx="5286375" cy="1005482"/>
          </a:xfrm>
          <a:prstGeom prst="rect">
            <a:avLst/>
          </a:prstGeom>
          <a:noFill/>
        </p:spPr>
        <p:txBody>
          <a:bodyPr wrap="square" lIns="0" tIns="0" rIns="0" bIns="0" anchor="t">
            <a:spAutoFit/>
          </a:bodyPr>
          <a:lstStyle/>
          <a:p>
            <a:pPr algn="l">
              <a:lnSpc>
                <a:spcPts val="2640"/>
              </a:lnSpc>
            </a:pPr>
            <a:r>
              <a:rPr sz="1650" b="0" i="0" u="none">
                <a:solidFill>
                  <a:srgbClr val="CBD5E1"/>
                </a:solidFill>
                <a:latin typeface="Lato"/>
              </a:rPr>
              <a:t>Instead of digging through tables, executives are presented with immediate health indicators of the business:</a:t>
            </a:r>
          </a:p>
        </p:txBody>
      </p:sp>
      <p:sp>
        <p:nvSpPr>
          <p:cNvPr id="10" name="TextBox 9"/>
          <p:cNvSpPr txBox="1"/>
          <p:nvPr/>
        </p:nvSpPr>
        <p:spPr>
          <a:xfrm>
            <a:off x="6619875" y="3917453"/>
            <a:ext cx="5000625" cy="304800"/>
          </a:xfrm>
          <a:prstGeom prst="rect">
            <a:avLst/>
          </a:prstGeom>
          <a:noFill/>
        </p:spPr>
        <p:txBody>
          <a:bodyPr wrap="square" lIns="0" tIns="0" rIns="0" bIns="0" anchor="t">
            <a:spAutoFit/>
          </a:bodyPr>
          <a:lstStyle/>
          <a:p>
            <a:pPr algn="l">
              <a:lnSpc>
                <a:spcPts val="2400"/>
              </a:lnSpc>
            </a:pPr>
            <a:r>
              <a:rPr sz="1500" b="1" i="0" u="none">
                <a:solidFill>
                  <a:srgbClr val="CBD5E1"/>
                </a:solidFill>
                <a:latin typeface="Lato"/>
              </a:rPr>
              <a:t>Total Revenue:</a:t>
            </a:r>
            <a:r>
              <a:rPr sz="1500" b="0" i="0" u="none">
                <a:solidFill>
                  <a:srgbClr val="CBD5E1"/>
                </a:solidFill>
                <a:latin typeface="Lato"/>
              </a:rPr>
              <a:t> Adjusted for discounts and unit price.</a:t>
            </a:r>
          </a:p>
        </p:txBody>
      </p:sp>
      <p:sp>
        <p:nvSpPr>
          <p:cNvPr id="11" name="TextBox 10"/>
          <p:cNvSpPr txBox="1"/>
          <p:nvPr/>
        </p:nvSpPr>
        <p:spPr>
          <a:xfrm>
            <a:off x="6619875" y="4412753"/>
            <a:ext cx="5000625" cy="304800"/>
          </a:xfrm>
          <a:prstGeom prst="rect">
            <a:avLst/>
          </a:prstGeom>
          <a:noFill/>
        </p:spPr>
        <p:txBody>
          <a:bodyPr wrap="square" lIns="0" tIns="0" rIns="0" bIns="0" anchor="t">
            <a:spAutoFit/>
          </a:bodyPr>
          <a:lstStyle/>
          <a:p>
            <a:pPr algn="l">
              <a:lnSpc>
                <a:spcPts val="2400"/>
              </a:lnSpc>
            </a:pPr>
            <a:r>
              <a:rPr sz="1500" b="1" i="0" u="none">
                <a:solidFill>
                  <a:srgbClr val="CBD5E1"/>
                </a:solidFill>
                <a:latin typeface="Lato"/>
              </a:rPr>
              <a:t>Total Orders:</a:t>
            </a:r>
            <a:r>
              <a:rPr sz="1500" b="0" i="0" u="none">
                <a:solidFill>
                  <a:srgbClr val="CBD5E1"/>
                </a:solidFill>
                <a:latin typeface="Lato"/>
              </a:rPr>
              <a:t> Distinct counts preventing duplicate line items.</a:t>
            </a:r>
          </a:p>
        </p:txBody>
      </p:sp>
      <p:sp>
        <p:nvSpPr>
          <p:cNvPr id="12" name="TextBox 11"/>
          <p:cNvSpPr txBox="1"/>
          <p:nvPr/>
        </p:nvSpPr>
        <p:spPr>
          <a:xfrm>
            <a:off x="6619875" y="4908053"/>
            <a:ext cx="5000625" cy="304800"/>
          </a:xfrm>
          <a:prstGeom prst="rect">
            <a:avLst/>
          </a:prstGeom>
          <a:noFill/>
        </p:spPr>
        <p:txBody>
          <a:bodyPr wrap="square" lIns="0" tIns="0" rIns="0" bIns="0" anchor="t">
            <a:spAutoFit/>
          </a:bodyPr>
          <a:lstStyle/>
          <a:p>
            <a:pPr algn="l">
              <a:lnSpc>
                <a:spcPts val="2400"/>
              </a:lnSpc>
            </a:pPr>
            <a:r>
              <a:rPr sz="1500" b="1" i="0" u="none">
                <a:solidFill>
                  <a:srgbClr val="CBD5E1"/>
                </a:solidFill>
                <a:latin typeface="Lato"/>
              </a:rPr>
              <a:t>Shipping Costs:</a:t>
            </a:r>
            <a:r>
              <a:rPr sz="1500" b="0" i="0" u="none">
                <a:solidFill>
                  <a:srgbClr val="CBD5E1"/>
                </a:solidFill>
                <a:latin typeface="Lato"/>
              </a:rPr>
              <a:t> Aggregate freight expenses.</a:t>
            </a:r>
          </a:p>
        </p:txBody>
      </p:sp>
      <p:sp>
        <p:nvSpPr>
          <p:cNvPr id="13" name="TextBox 12"/>
          <p:cNvSpPr txBox="1"/>
          <p:nvPr/>
        </p:nvSpPr>
        <p:spPr>
          <a:xfrm>
            <a:off x="6619875" y="5403353"/>
            <a:ext cx="5000625" cy="304800"/>
          </a:xfrm>
          <a:prstGeom prst="rect">
            <a:avLst/>
          </a:prstGeom>
          <a:noFill/>
        </p:spPr>
        <p:txBody>
          <a:bodyPr wrap="square" lIns="0" tIns="0" rIns="0" bIns="0" anchor="t">
            <a:spAutoFit/>
          </a:bodyPr>
          <a:lstStyle/>
          <a:p>
            <a:pPr algn="l">
              <a:lnSpc>
                <a:spcPts val="2400"/>
              </a:lnSpc>
            </a:pPr>
            <a:r>
              <a:rPr sz="1500" b="1" i="0" u="none">
                <a:solidFill>
                  <a:srgbClr val="CBD5E1"/>
                </a:solidFill>
                <a:latin typeface="Lato"/>
              </a:rPr>
              <a:t>Avg Processing Time:</a:t>
            </a:r>
            <a:r>
              <a:rPr sz="1500" b="0" i="0" u="none">
                <a:solidFill>
                  <a:srgbClr val="CBD5E1"/>
                </a:solidFill>
                <a:latin typeface="Lato"/>
              </a:rPr>
              <a:t> Days between order and shipment.</a:t>
            </a:r>
          </a:p>
        </p:txBody>
      </p:sp>
      <p:pic>
        <p:nvPicPr>
          <p:cNvPr id="14" name="Picture 13" descr="image.png"/>
          <p:cNvPicPr>
            <a:picLocks noChangeAspect="1"/>
          </p:cNvPicPr>
          <p:nvPr/>
        </p:nvPicPr>
        <p:blipFill>
          <a:blip r:embed="rId5"/>
          <a:stretch>
            <a:fillRect/>
          </a:stretch>
        </p:blipFill>
        <p:spPr>
          <a:xfrm>
            <a:off x="6334125" y="3936503"/>
            <a:ext cx="95250" cy="200025"/>
          </a:xfrm>
          <a:prstGeom prst="rect">
            <a:avLst/>
          </a:prstGeom>
        </p:spPr>
      </p:pic>
      <p:pic>
        <p:nvPicPr>
          <p:cNvPr id="15" name="Picture 14" descr="image.png"/>
          <p:cNvPicPr>
            <a:picLocks noChangeAspect="1"/>
          </p:cNvPicPr>
          <p:nvPr/>
        </p:nvPicPr>
        <p:blipFill>
          <a:blip r:embed="rId5"/>
          <a:stretch>
            <a:fillRect/>
          </a:stretch>
        </p:blipFill>
        <p:spPr>
          <a:xfrm>
            <a:off x="6334125" y="4431803"/>
            <a:ext cx="95250" cy="200025"/>
          </a:xfrm>
          <a:prstGeom prst="rect">
            <a:avLst/>
          </a:prstGeom>
        </p:spPr>
      </p:pic>
      <p:pic>
        <p:nvPicPr>
          <p:cNvPr id="16" name="Picture 15" descr="image.png"/>
          <p:cNvPicPr>
            <a:picLocks noChangeAspect="1"/>
          </p:cNvPicPr>
          <p:nvPr/>
        </p:nvPicPr>
        <p:blipFill>
          <a:blip r:embed="rId5"/>
          <a:stretch>
            <a:fillRect/>
          </a:stretch>
        </p:blipFill>
        <p:spPr>
          <a:xfrm>
            <a:off x="6334125" y="4927103"/>
            <a:ext cx="95250" cy="200025"/>
          </a:xfrm>
          <a:prstGeom prst="rect">
            <a:avLst/>
          </a:prstGeom>
        </p:spPr>
      </p:pic>
      <p:pic>
        <p:nvPicPr>
          <p:cNvPr id="17" name="Picture 16" descr="image.png"/>
          <p:cNvPicPr>
            <a:picLocks noChangeAspect="1"/>
          </p:cNvPicPr>
          <p:nvPr/>
        </p:nvPicPr>
        <p:blipFill>
          <a:blip r:embed="rId5"/>
          <a:stretch>
            <a:fillRect/>
          </a:stretch>
        </p:blipFill>
        <p:spPr>
          <a:xfrm>
            <a:off x="6334125" y="5422403"/>
            <a:ext cx="95250" cy="20002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2443162"/>
            <a:ext cx="5286375" cy="3086100"/>
          </a:xfrm>
          <a:prstGeom prst="rect">
            <a:avLst/>
          </a:prstGeom>
        </p:spPr>
      </p:pic>
      <p:pic>
        <p:nvPicPr>
          <p:cNvPr id="4" name="Picture 3" descr="image.png"/>
          <p:cNvPicPr>
            <a:picLocks noChangeAspect="1"/>
          </p:cNvPicPr>
          <p:nvPr/>
        </p:nvPicPr>
        <p:blipFill>
          <a:blip r:embed="rId4"/>
          <a:stretch>
            <a:fillRect/>
          </a:stretch>
        </p:blipFill>
        <p:spPr>
          <a:xfrm>
            <a:off x="6334125" y="2443162"/>
            <a:ext cx="5286375" cy="3086100"/>
          </a:xfrm>
          <a:prstGeom prst="rect">
            <a:avLst/>
          </a:prstGeom>
        </p:spPr>
      </p:pic>
      <p:sp>
        <p:nvSpPr>
          <p:cNvPr id="5" name="TextBox 4"/>
          <p:cNvSpPr txBox="1"/>
          <p:nvPr/>
        </p:nvSpPr>
        <p:spPr>
          <a:xfrm>
            <a:off x="571500" y="571500"/>
            <a:ext cx="11601450" cy="590550"/>
          </a:xfrm>
          <a:prstGeom prst="rect">
            <a:avLst/>
          </a:prstGeom>
          <a:noFill/>
        </p:spPr>
        <p:txBody>
          <a:bodyPr wrap="square" lIns="0" tIns="0" rIns="0" bIns="0" anchor="t">
            <a:spAutoFit/>
          </a:bodyPr>
          <a:lstStyle/>
          <a:p>
            <a:pPr algn="l"/>
            <a:r>
              <a:rPr sz="3000" b="0" i="0" u="none">
                <a:solidFill>
                  <a:srgbClr val="F8FAFC"/>
                </a:solidFill>
                <a:latin typeface="Poppins Medium"/>
              </a:rPr>
              <a:t>Dashboard </a:t>
            </a:r>
            <a:r>
              <a:rPr sz="3000" b="0" i="0" u="none">
                <a:solidFill>
                  <a:srgbClr val="38BDF8"/>
                </a:solidFill>
                <a:latin typeface="Poppins Medium"/>
              </a:rPr>
              <a:t>Architecture</a:t>
            </a:r>
          </a:p>
        </p:txBody>
      </p:sp>
      <p:sp>
        <p:nvSpPr>
          <p:cNvPr id="6" name="Rectangle 5"/>
          <p:cNvSpPr/>
          <p:nvPr/>
        </p:nvSpPr>
        <p:spPr>
          <a:xfrm>
            <a:off x="571500" y="1285875"/>
            <a:ext cx="11049000" cy="19050"/>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2025" y="2928937"/>
            <a:ext cx="4730591" cy="400050"/>
          </a:xfrm>
          <a:prstGeom prst="rect">
            <a:avLst/>
          </a:prstGeom>
          <a:noFill/>
        </p:spPr>
        <p:txBody>
          <a:bodyPr wrap="square" lIns="0" tIns="0" rIns="0" bIns="0" anchor="t">
            <a:spAutoFit/>
          </a:bodyPr>
          <a:lstStyle/>
          <a:p>
            <a:pPr algn="l"/>
            <a:r>
              <a:rPr sz="2100" b="1" i="0" u="none">
                <a:solidFill>
                  <a:srgbClr val="38BDF8"/>
                </a:solidFill>
                <a:latin typeface="Poppins"/>
              </a:rPr>
              <a:t>Executive Overview (Page 1)</a:t>
            </a:r>
          </a:p>
        </p:txBody>
      </p:sp>
      <p:sp>
        <p:nvSpPr>
          <p:cNvPr id="8" name="TextBox 7"/>
          <p:cNvSpPr txBox="1"/>
          <p:nvPr/>
        </p:nvSpPr>
        <p:spPr>
          <a:xfrm>
            <a:off x="962025" y="3519487"/>
            <a:ext cx="4505325" cy="1524000"/>
          </a:xfrm>
          <a:prstGeom prst="rect">
            <a:avLst/>
          </a:prstGeom>
          <a:noFill/>
        </p:spPr>
        <p:txBody>
          <a:bodyPr wrap="square" lIns="0" tIns="0" rIns="0" bIns="0" anchor="t">
            <a:spAutoFit/>
          </a:bodyPr>
          <a:lstStyle/>
          <a:p>
            <a:pPr algn="l">
              <a:lnSpc>
                <a:spcPts val="2400"/>
              </a:lnSpc>
            </a:pPr>
            <a:r>
              <a:rPr sz="1500" b="0" i="0" u="none">
                <a:solidFill>
                  <a:srgbClr val="CBD5E1"/>
                </a:solidFill>
                <a:latin typeface="Lato"/>
              </a:rPr>
              <a:t>Designed for high-level decision makers. Features top-line KPI cards, dynamic line charts for revenue trends over time, and conditionally formatted matrices that highlight the most profitable product categories in green and underperforming ones in red.</a:t>
            </a:r>
          </a:p>
        </p:txBody>
      </p:sp>
      <p:sp>
        <p:nvSpPr>
          <p:cNvPr id="9" name="TextBox 8"/>
          <p:cNvSpPr txBox="1"/>
          <p:nvPr/>
        </p:nvSpPr>
        <p:spPr>
          <a:xfrm>
            <a:off x="6724650" y="2928937"/>
            <a:ext cx="4730591" cy="400050"/>
          </a:xfrm>
          <a:prstGeom prst="rect">
            <a:avLst/>
          </a:prstGeom>
          <a:noFill/>
        </p:spPr>
        <p:txBody>
          <a:bodyPr wrap="square" lIns="0" tIns="0" rIns="0" bIns="0" anchor="t">
            <a:spAutoFit/>
          </a:bodyPr>
          <a:lstStyle/>
          <a:p>
            <a:pPr algn="l"/>
            <a:r>
              <a:rPr sz="2100" b="1" i="0" u="none">
                <a:solidFill>
                  <a:srgbClr val="38BDF8"/>
                </a:solidFill>
                <a:latin typeface="Poppins"/>
              </a:rPr>
              <a:t>Manager Efficiency (Page 2)</a:t>
            </a:r>
          </a:p>
        </p:txBody>
      </p:sp>
      <p:sp>
        <p:nvSpPr>
          <p:cNvPr id="10" name="TextBox 9"/>
          <p:cNvSpPr txBox="1"/>
          <p:nvPr/>
        </p:nvSpPr>
        <p:spPr>
          <a:xfrm>
            <a:off x="6724650" y="3519487"/>
            <a:ext cx="4505325" cy="1524000"/>
          </a:xfrm>
          <a:prstGeom prst="rect">
            <a:avLst/>
          </a:prstGeom>
          <a:noFill/>
        </p:spPr>
        <p:txBody>
          <a:bodyPr wrap="square" lIns="0" tIns="0" rIns="0" bIns="0" anchor="t">
            <a:spAutoFit/>
          </a:bodyPr>
          <a:lstStyle/>
          <a:p>
            <a:pPr algn="l">
              <a:lnSpc>
                <a:spcPts val="2400"/>
              </a:lnSpc>
            </a:pPr>
            <a:r>
              <a:rPr sz="1500" b="0" i="0" u="none">
                <a:solidFill>
                  <a:srgbClr val="CBD5E1"/>
                </a:solidFill>
                <a:latin typeface="Lato"/>
              </a:rPr>
              <a:t>Designed for operational oversight. Focuses heavily on employee productivity, utilizing clustered bar charts to visually rank sales managers based on their average processing speed and the volume of orders they successfully handle.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1685925"/>
            <a:ext cx="11049000" cy="4600575"/>
          </a:xfrm>
          <a:prstGeom prst="rect">
            <a:avLst/>
          </a:prstGeom>
        </p:spPr>
      </p:pic>
      <p:sp>
        <p:nvSpPr>
          <p:cNvPr id="4" name="TextBox 3"/>
          <p:cNvSpPr txBox="1"/>
          <p:nvPr/>
        </p:nvSpPr>
        <p:spPr>
          <a:xfrm>
            <a:off x="571500" y="571500"/>
            <a:ext cx="11601450" cy="590550"/>
          </a:xfrm>
          <a:prstGeom prst="rect">
            <a:avLst/>
          </a:prstGeom>
          <a:noFill/>
        </p:spPr>
        <p:txBody>
          <a:bodyPr wrap="square" lIns="0" tIns="0" rIns="0" bIns="0" anchor="t">
            <a:spAutoFit/>
          </a:bodyPr>
          <a:lstStyle/>
          <a:p>
            <a:pPr algn="l"/>
            <a:r>
              <a:rPr sz="3000" b="0" i="0" u="none">
                <a:solidFill>
                  <a:srgbClr val="F8FAFC"/>
                </a:solidFill>
                <a:latin typeface="Poppins Medium"/>
              </a:rPr>
              <a:t>Identifying </a:t>
            </a:r>
            <a:r>
              <a:rPr sz="3000" b="0" i="0" u="none">
                <a:solidFill>
                  <a:srgbClr val="38BDF8"/>
                </a:solidFill>
                <a:latin typeface="Poppins Medium"/>
              </a:rPr>
              <a:t>Bottlenecks</a:t>
            </a:r>
          </a:p>
        </p:txBody>
      </p:sp>
      <p:sp>
        <p:nvSpPr>
          <p:cNvPr id="5" name="Rectangle 4"/>
          <p:cNvSpPr/>
          <p:nvPr/>
        </p:nvSpPr>
        <p:spPr>
          <a:xfrm>
            <a:off x="571500" y="1285875"/>
            <a:ext cx="11049000" cy="19050"/>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71500" y="5334000"/>
            <a:ext cx="11049000" cy="609600"/>
          </a:xfrm>
          <a:prstGeom prst="rect">
            <a:avLst/>
          </a:prstGeom>
          <a:noFill/>
        </p:spPr>
        <p:txBody>
          <a:bodyPr wrap="square" lIns="0" tIns="0" rIns="0" bIns="0" anchor="t">
            <a:spAutoFit/>
          </a:bodyPr>
          <a:lstStyle/>
          <a:p>
            <a:pPr algn="ctr">
              <a:lnSpc>
                <a:spcPts val="2400"/>
              </a:lnSpc>
            </a:pPr>
            <a:r>
              <a:rPr sz="1500" b="0" i="1" u="none">
                <a:solidFill>
                  <a:srgbClr val="94A3B8"/>
                </a:solidFill>
                <a:latin typeface="Lato"/>
              </a:rPr>
              <a:t>Example Output: By tracking </a:t>
            </a:r>
            <a:r>
              <a:rPr sz="1500" b="1" i="1" u="none">
                <a:solidFill>
                  <a:srgbClr val="94A3B8"/>
                </a:solidFill>
                <a:latin typeface="Lato"/>
              </a:rPr>
              <a:t>Average Processing Time</a:t>
            </a:r>
            <a:r>
              <a:rPr sz="1500" b="0" i="1" u="none">
                <a:solidFill>
                  <a:srgbClr val="94A3B8"/>
                </a:solidFill>
                <a:latin typeface="Lato"/>
              </a:rPr>
              <a:t> per employee, the dashboard instantly highlights those handling high order volumes (Laura Callahan) against those processing shipments faster (Steven Buchanan).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11986617" y="76200"/>
            <a:ext cx="129182" cy="180975"/>
          </a:xfrm>
          <a:prstGeom prst="rect">
            <a:avLst/>
          </a:prstGeom>
        </p:spPr>
      </p:pic>
      <p:sp>
        <p:nvSpPr>
          <p:cNvPr id="4" name="TextBox 3"/>
          <p:cNvSpPr txBox="1"/>
          <p:nvPr/>
        </p:nvSpPr>
        <p:spPr>
          <a:xfrm>
            <a:off x="571500" y="571500"/>
            <a:ext cx="5200650" cy="590550"/>
          </a:xfrm>
          <a:prstGeom prst="rect">
            <a:avLst/>
          </a:prstGeom>
          <a:noFill/>
        </p:spPr>
        <p:txBody>
          <a:bodyPr wrap="square" lIns="0" tIns="0" rIns="0" bIns="0" anchor="t">
            <a:spAutoFit/>
          </a:bodyPr>
          <a:lstStyle/>
          <a:p>
            <a:pPr algn="l"/>
            <a:r>
              <a:rPr sz="3000" b="0" i="0" u="none">
                <a:solidFill>
                  <a:srgbClr val="F8FAFC"/>
                </a:solidFill>
                <a:latin typeface="Poppins Medium"/>
              </a:rPr>
              <a:t>Industry </a:t>
            </a:r>
            <a:r>
              <a:rPr sz="3000" b="0" i="0" u="none">
                <a:solidFill>
                  <a:srgbClr val="38BDF8"/>
                </a:solidFill>
                <a:latin typeface="Poppins Medium"/>
              </a:rPr>
              <a:t>Impact</a:t>
            </a:r>
          </a:p>
        </p:txBody>
      </p:sp>
      <p:sp>
        <p:nvSpPr>
          <p:cNvPr id="5" name="Rectangle 4"/>
          <p:cNvSpPr/>
          <p:nvPr/>
        </p:nvSpPr>
        <p:spPr>
          <a:xfrm>
            <a:off x="571500" y="1285875"/>
            <a:ext cx="4953000" cy="19050"/>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4"/>
          <a:stretch>
            <a:fillRect/>
          </a:stretch>
        </p:blipFill>
        <p:spPr>
          <a:xfrm>
            <a:off x="6096000" y="0"/>
            <a:ext cx="6096000" cy="6858000"/>
          </a:xfrm>
          <a:prstGeom prst="rect">
            <a:avLst/>
          </a:prstGeom>
        </p:spPr>
      </p:pic>
      <p:sp>
        <p:nvSpPr>
          <p:cNvPr id="7" name="TextBox 6"/>
          <p:cNvSpPr txBox="1"/>
          <p:nvPr/>
        </p:nvSpPr>
        <p:spPr>
          <a:xfrm>
            <a:off x="571500" y="1835943"/>
            <a:ext cx="5200650" cy="1047750"/>
          </a:xfrm>
          <a:prstGeom prst="rect">
            <a:avLst/>
          </a:prstGeom>
          <a:noFill/>
        </p:spPr>
        <p:txBody>
          <a:bodyPr wrap="square" lIns="0" tIns="0" rIns="0" bIns="0" anchor="t">
            <a:spAutoFit/>
          </a:bodyPr>
          <a:lstStyle/>
          <a:p>
            <a:pPr algn="l"/>
            <a:r>
              <a:rPr sz="2700" b="1" i="0" u="none">
                <a:solidFill>
                  <a:srgbClr val="38BDF8"/>
                </a:solidFill>
                <a:latin typeface="Poppins"/>
              </a:rPr>
              <a:t>Optimizing Retail Operations</a:t>
            </a:r>
          </a:p>
        </p:txBody>
      </p:sp>
      <p:sp>
        <p:nvSpPr>
          <p:cNvPr id="8" name="TextBox 7"/>
          <p:cNvSpPr txBox="1"/>
          <p:nvPr/>
        </p:nvSpPr>
        <p:spPr>
          <a:xfrm>
            <a:off x="571500" y="3074193"/>
            <a:ext cx="4953000" cy="1005482"/>
          </a:xfrm>
          <a:prstGeom prst="rect">
            <a:avLst/>
          </a:prstGeom>
          <a:noFill/>
        </p:spPr>
        <p:txBody>
          <a:bodyPr wrap="square" lIns="0" tIns="0" rIns="0" bIns="0" anchor="t">
            <a:spAutoFit/>
          </a:bodyPr>
          <a:lstStyle/>
          <a:p>
            <a:pPr algn="l">
              <a:lnSpc>
                <a:spcPts val="2640"/>
              </a:lnSpc>
            </a:pPr>
            <a:r>
              <a:rPr sz="1650" b="0" i="0" u="none">
                <a:solidFill>
                  <a:srgbClr val="CBD5E1"/>
                </a:solidFill>
                <a:latin typeface="Lato"/>
              </a:rPr>
              <a:t>This project directly answers the retail sector's demand for agile, data-driven supply chain management.</a:t>
            </a:r>
          </a:p>
        </p:txBody>
      </p:sp>
      <p:sp>
        <p:nvSpPr>
          <p:cNvPr id="9" name="TextBox 8"/>
          <p:cNvSpPr txBox="1"/>
          <p:nvPr/>
        </p:nvSpPr>
        <p:spPr>
          <a:xfrm>
            <a:off x="571500" y="4270176"/>
            <a:ext cx="4953000" cy="1675804"/>
          </a:xfrm>
          <a:prstGeom prst="rect">
            <a:avLst/>
          </a:prstGeom>
          <a:noFill/>
        </p:spPr>
        <p:txBody>
          <a:bodyPr wrap="square" lIns="0" tIns="0" rIns="0" bIns="0" anchor="t">
            <a:spAutoFit/>
          </a:bodyPr>
          <a:lstStyle/>
          <a:p>
            <a:pPr algn="l">
              <a:lnSpc>
                <a:spcPts val="2640"/>
              </a:lnSpc>
            </a:pPr>
            <a:r>
              <a:rPr sz="1650" b="0" i="0" u="none">
                <a:solidFill>
                  <a:srgbClr val="CBD5E1"/>
                </a:solidFill>
                <a:latin typeface="Lato"/>
              </a:rPr>
              <a:t>By transforming static historical data into a live, interactive environment, stakeholders can immediately identify shipping delays, reallocate resources to high-volume managers, and ultimately reduce operational costs.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4748212"/>
            <a:ext cx="2430660" cy="1297185"/>
          </a:xfrm>
          <a:prstGeom prst="rect">
            <a:avLst/>
          </a:prstGeom>
        </p:spPr>
      </p:pic>
      <p:pic>
        <p:nvPicPr>
          <p:cNvPr id="4" name="Picture 3" descr="image.png"/>
          <p:cNvPicPr>
            <a:picLocks noChangeAspect="1"/>
          </p:cNvPicPr>
          <p:nvPr/>
        </p:nvPicPr>
        <p:blipFill>
          <a:blip r:embed="rId4"/>
          <a:stretch>
            <a:fillRect/>
          </a:stretch>
        </p:blipFill>
        <p:spPr>
          <a:xfrm>
            <a:off x="3444180" y="2445246"/>
            <a:ext cx="2430660" cy="1540966"/>
          </a:xfrm>
          <a:prstGeom prst="rect">
            <a:avLst/>
          </a:prstGeom>
        </p:spPr>
      </p:pic>
      <p:pic>
        <p:nvPicPr>
          <p:cNvPr id="5" name="Picture 4" descr="image.png"/>
          <p:cNvPicPr>
            <a:picLocks noChangeAspect="1"/>
          </p:cNvPicPr>
          <p:nvPr/>
        </p:nvPicPr>
        <p:blipFill>
          <a:blip r:embed="rId5"/>
          <a:stretch>
            <a:fillRect/>
          </a:stretch>
        </p:blipFill>
        <p:spPr>
          <a:xfrm>
            <a:off x="6316860" y="4748212"/>
            <a:ext cx="2430660" cy="1540966"/>
          </a:xfrm>
          <a:prstGeom prst="rect">
            <a:avLst/>
          </a:prstGeom>
        </p:spPr>
      </p:pic>
      <p:pic>
        <p:nvPicPr>
          <p:cNvPr id="6" name="Picture 5" descr="image.png"/>
          <p:cNvPicPr>
            <a:picLocks noChangeAspect="1"/>
          </p:cNvPicPr>
          <p:nvPr/>
        </p:nvPicPr>
        <p:blipFill>
          <a:blip r:embed="rId6"/>
          <a:stretch>
            <a:fillRect/>
          </a:stretch>
        </p:blipFill>
        <p:spPr>
          <a:xfrm>
            <a:off x="9189541" y="2445246"/>
            <a:ext cx="2430660" cy="1540966"/>
          </a:xfrm>
          <a:prstGeom prst="rect">
            <a:avLst/>
          </a:prstGeom>
        </p:spPr>
      </p:pic>
      <p:sp>
        <p:nvSpPr>
          <p:cNvPr id="7" name="TextBox 6"/>
          <p:cNvSpPr txBox="1"/>
          <p:nvPr/>
        </p:nvSpPr>
        <p:spPr>
          <a:xfrm>
            <a:off x="571500" y="571500"/>
            <a:ext cx="11601450" cy="590550"/>
          </a:xfrm>
          <a:prstGeom prst="rect">
            <a:avLst/>
          </a:prstGeom>
          <a:noFill/>
        </p:spPr>
        <p:txBody>
          <a:bodyPr wrap="square" lIns="0" tIns="0" rIns="0" bIns="0" anchor="t">
            <a:spAutoFit/>
          </a:bodyPr>
          <a:lstStyle/>
          <a:p>
            <a:pPr algn="l"/>
            <a:r>
              <a:rPr sz="3000" b="0" i="0" u="none">
                <a:solidFill>
                  <a:srgbClr val="F8FAFC"/>
                </a:solidFill>
                <a:latin typeface="Poppins Medium"/>
              </a:rPr>
              <a:t>Project </a:t>
            </a:r>
            <a:r>
              <a:rPr sz="3000" b="0" i="0" u="none">
                <a:solidFill>
                  <a:srgbClr val="38BDF8"/>
                </a:solidFill>
                <a:latin typeface="Poppins Medium"/>
              </a:rPr>
              <a:t>Next Steps</a:t>
            </a:r>
          </a:p>
        </p:txBody>
      </p:sp>
      <p:sp>
        <p:nvSpPr>
          <p:cNvPr id="8" name="Rectangle 7"/>
          <p:cNvSpPr/>
          <p:nvPr/>
        </p:nvSpPr>
        <p:spPr>
          <a:xfrm>
            <a:off x="571500" y="1285875"/>
            <a:ext cx="11049000" cy="19050"/>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71500" y="3967162"/>
            <a:ext cx="11049000" cy="38100"/>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20759" y="4948237"/>
            <a:ext cx="2132141" cy="314325"/>
          </a:xfrm>
          <a:prstGeom prst="rect">
            <a:avLst/>
          </a:prstGeom>
          <a:noFill/>
        </p:spPr>
        <p:txBody>
          <a:bodyPr wrap="square" lIns="0" tIns="0" rIns="0" bIns="0" anchor="t">
            <a:spAutoFit/>
          </a:bodyPr>
          <a:lstStyle/>
          <a:p>
            <a:pPr algn="ctr"/>
            <a:r>
              <a:rPr sz="1650" b="1" i="0" u="none">
                <a:solidFill>
                  <a:srgbClr val="F8FAFC"/>
                </a:solidFill>
                <a:latin typeface="Poppins"/>
              </a:rPr>
              <a:t>Q1 - Review</a:t>
            </a:r>
          </a:p>
        </p:txBody>
      </p:sp>
      <p:sp>
        <p:nvSpPr>
          <p:cNvPr id="11" name="TextBox 10"/>
          <p:cNvSpPr txBox="1"/>
          <p:nvPr/>
        </p:nvSpPr>
        <p:spPr>
          <a:xfrm>
            <a:off x="771525" y="5357812"/>
            <a:ext cx="2030610" cy="487560"/>
          </a:xfrm>
          <a:prstGeom prst="rect">
            <a:avLst/>
          </a:prstGeom>
          <a:noFill/>
        </p:spPr>
        <p:txBody>
          <a:bodyPr wrap="square" lIns="0" tIns="0" rIns="0" bIns="0" anchor="t">
            <a:spAutoFit/>
          </a:bodyPr>
          <a:lstStyle/>
          <a:p>
            <a:pPr algn="ctr">
              <a:lnSpc>
                <a:spcPts val="1920"/>
              </a:lnSpc>
            </a:pPr>
            <a:r>
              <a:rPr sz="1200" b="0" i="0" u="none">
                <a:solidFill>
                  <a:srgbClr val="CBD5E1"/>
                </a:solidFill>
                <a:latin typeface="Lato"/>
              </a:rPr>
              <a:t>Submit `.pbix` file for technical mentor review and feedback.</a:t>
            </a:r>
          </a:p>
        </p:txBody>
      </p:sp>
      <p:sp>
        <p:nvSpPr>
          <p:cNvPr id="12" name="TextBox 11"/>
          <p:cNvSpPr txBox="1"/>
          <p:nvPr/>
        </p:nvSpPr>
        <p:spPr>
          <a:xfrm>
            <a:off x="3593440" y="2645271"/>
            <a:ext cx="2132141" cy="314325"/>
          </a:xfrm>
          <a:prstGeom prst="rect">
            <a:avLst/>
          </a:prstGeom>
          <a:noFill/>
        </p:spPr>
        <p:txBody>
          <a:bodyPr wrap="square" lIns="0" tIns="0" rIns="0" bIns="0" anchor="t">
            <a:spAutoFit/>
          </a:bodyPr>
          <a:lstStyle/>
          <a:p>
            <a:pPr algn="ctr"/>
            <a:r>
              <a:rPr sz="1650" b="1" i="0" u="none">
                <a:solidFill>
                  <a:srgbClr val="F8FAFC"/>
                </a:solidFill>
                <a:latin typeface="Poppins"/>
              </a:rPr>
              <a:t>Q2 - Refinement</a:t>
            </a:r>
          </a:p>
        </p:txBody>
      </p:sp>
      <p:sp>
        <p:nvSpPr>
          <p:cNvPr id="13" name="TextBox 12"/>
          <p:cNvSpPr txBox="1"/>
          <p:nvPr/>
        </p:nvSpPr>
        <p:spPr>
          <a:xfrm>
            <a:off x="3644205" y="3054846"/>
            <a:ext cx="2030610" cy="731341"/>
          </a:xfrm>
          <a:prstGeom prst="rect">
            <a:avLst/>
          </a:prstGeom>
          <a:noFill/>
        </p:spPr>
        <p:txBody>
          <a:bodyPr wrap="square" lIns="0" tIns="0" rIns="0" bIns="0" anchor="t">
            <a:spAutoFit/>
          </a:bodyPr>
          <a:lstStyle/>
          <a:p>
            <a:pPr algn="ctr">
              <a:lnSpc>
                <a:spcPts val="1920"/>
              </a:lnSpc>
            </a:pPr>
            <a:r>
              <a:rPr sz="1200" b="0" i="0" u="none">
                <a:solidFill>
                  <a:srgbClr val="CBD5E1"/>
                </a:solidFill>
                <a:latin typeface="Lato"/>
              </a:rPr>
              <a:t>Enhance DAX logic and apply advanced UI/UX dashboard styling.</a:t>
            </a:r>
          </a:p>
        </p:txBody>
      </p:sp>
      <p:sp>
        <p:nvSpPr>
          <p:cNvPr id="14" name="TextBox 13"/>
          <p:cNvSpPr txBox="1"/>
          <p:nvPr/>
        </p:nvSpPr>
        <p:spPr>
          <a:xfrm>
            <a:off x="6466120" y="4948237"/>
            <a:ext cx="2132141" cy="314325"/>
          </a:xfrm>
          <a:prstGeom prst="rect">
            <a:avLst/>
          </a:prstGeom>
          <a:noFill/>
        </p:spPr>
        <p:txBody>
          <a:bodyPr wrap="square" lIns="0" tIns="0" rIns="0" bIns="0" anchor="t">
            <a:spAutoFit/>
          </a:bodyPr>
          <a:lstStyle/>
          <a:p>
            <a:pPr algn="ctr"/>
            <a:r>
              <a:rPr sz="1650" b="1" i="0" u="none">
                <a:solidFill>
                  <a:srgbClr val="F8FAFC"/>
                </a:solidFill>
                <a:latin typeface="Poppins"/>
              </a:rPr>
              <a:t>Q3 - Integration</a:t>
            </a:r>
          </a:p>
        </p:txBody>
      </p:sp>
      <p:sp>
        <p:nvSpPr>
          <p:cNvPr id="15" name="TextBox 14"/>
          <p:cNvSpPr txBox="1"/>
          <p:nvPr/>
        </p:nvSpPr>
        <p:spPr>
          <a:xfrm>
            <a:off x="6516885" y="5357812"/>
            <a:ext cx="2030610" cy="731341"/>
          </a:xfrm>
          <a:prstGeom prst="rect">
            <a:avLst/>
          </a:prstGeom>
          <a:noFill/>
        </p:spPr>
        <p:txBody>
          <a:bodyPr wrap="square" lIns="0" tIns="0" rIns="0" bIns="0" anchor="t">
            <a:spAutoFit/>
          </a:bodyPr>
          <a:lstStyle/>
          <a:p>
            <a:pPr algn="ctr">
              <a:lnSpc>
                <a:spcPts val="1920"/>
              </a:lnSpc>
            </a:pPr>
            <a:r>
              <a:rPr sz="1200" b="0" i="0" u="none">
                <a:solidFill>
                  <a:srgbClr val="CBD5E1"/>
                </a:solidFill>
                <a:latin typeface="Lato"/>
              </a:rPr>
              <a:t>Connect backend schema to live database sources for real-time updates.</a:t>
            </a:r>
          </a:p>
        </p:txBody>
      </p:sp>
      <p:sp>
        <p:nvSpPr>
          <p:cNvPr id="16" name="TextBox 15"/>
          <p:cNvSpPr txBox="1"/>
          <p:nvPr/>
        </p:nvSpPr>
        <p:spPr>
          <a:xfrm>
            <a:off x="9338801" y="2645271"/>
            <a:ext cx="2132141" cy="314325"/>
          </a:xfrm>
          <a:prstGeom prst="rect">
            <a:avLst/>
          </a:prstGeom>
          <a:noFill/>
        </p:spPr>
        <p:txBody>
          <a:bodyPr wrap="square" lIns="0" tIns="0" rIns="0" bIns="0" anchor="t">
            <a:spAutoFit/>
          </a:bodyPr>
          <a:lstStyle/>
          <a:p>
            <a:pPr algn="ctr"/>
            <a:r>
              <a:rPr sz="1650" b="1" i="0" u="none">
                <a:solidFill>
                  <a:srgbClr val="F8FAFC"/>
                </a:solidFill>
                <a:latin typeface="Poppins"/>
              </a:rPr>
              <a:t>Q4 - Deployment</a:t>
            </a:r>
          </a:p>
        </p:txBody>
      </p:sp>
      <p:sp>
        <p:nvSpPr>
          <p:cNvPr id="17" name="TextBox 16"/>
          <p:cNvSpPr txBox="1"/>
          <p:nvPr/>
        </p:nvSpPr>
        <p:spPr>
          <a:xfrm>
            <a:off x="9389566" y="3054846"/>
            <a:ext cx="2030610" cy="731341"/>
          </a:xfrm>
          <a:prstGeom prst="rect">
            <a:avLst/>
          </a:prstGeom>
          <a:noFill/>
        </p:spPr>
        <p:txBody>
          <a:bodyPr wrap="square" lIns="0" tIns="0" rIns="0" bIns="0" anchor="t">
            <a:spAutoFit/>
          </a:bodyPr>
          <a:lstStyle/>
          <a:p>
            <a:pPr algn="ctr">
              <a:lnSpc>
                <a:spcPts val="1920"/>
              </a:lnSpc>
            </a:pPr>
            <a:r>
              <a:rPr sz="1200" b="0" i="0" u="none">
                <a:solidFill>
                  <a:srgbClr val="CBD5E1"/>
                </a:solidFill>
                <a:latin typeface="Lato"/>
              </a:rPr>
              <a:t>Conduct usability testing with targeted stakeholders for final launch.</a:t>
            </a:r>
          </a:p>
        </p:txBody>
      </p:sp>
      <p:sp>
        <p:nvSpPr>
          <p:cNvPr id="18" name="Rounded Rectangle 17"/>
          <p:cNvSpPr/>
          <p:nvPr/>
        </p:nvSpPr>
        <p:spPr>
          <a:xfrm>
            <a:off x="1672530" y="4252912"/>
            <a:ext cx="228600" cy="228600"/>
          </a:xfrm>
          <a:prstGeom prst="roundRect">
            <a:avLst>
              <a:gd name="adj" fmla="val 50000"/>
            </a:avLst>
          </a:prstGeom>
          <a:solidFill>
            <a:srgbClr val="0F172A"/>
          </a:solidFill>
          <a:ln w="381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4545210" y="4252912"/>
            <a:ext cx="228600" cy="228600"/>
          </a:xfrm>
          <a:prstGeom prst="roundRect">
            <a:avLst>
              <a:gd name="adj" fmla="val 50000"/>
            </a:avLst>
          </a:prstGeom>
          <a:solidFill>
            <a:srgbClr val="0F172A"/>
          </a:solidFill>
          <a:ln w="381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7417891" y="4252912"/>
            <a:ext cx="228600" cy="228600"/>
          </a:xfrm>
          <a:prstGeom prst="roundRect">
            <a:avLst>
              <a:gd name="adj" fmla="val 50000"/>
            </a:avLst>
          </a:prstGeom>
          <a:solidFill>
            <a:srgbClr val="0F172A"/>
          </a:solidFill>
          <a:ln w="381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10290571" y="4252912"/>
            <a:ext cx="228600" cy="228600"/>
          </a:xfrm>
          <a:prstGeom prst="roundRect">
            <a:avLst>
              <a:gd name="adj" fmla="val 50000"/>
            </a:avLst>
          </a:prstGeom>
          <a:solidFill>
            <a:srgbClr val="0F172A"/>
          </a:solidFill>
          <a:ln w="381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3220640" y="2405955"/>
            <a:ext cx="5750718" cy="1428750"/>
          </a:xfrm>
          <a:prstGeom prst="rect">
            <a:avLst/>
          </a:prstGeom>
          <a:noFill/>
        </p:spPr>
        <p:txBody>
          <a:bodyPr wrap="square" lIns="0" tIns="0" rIns="0" bIns="0" anchor="t">
            <a:spAutoFit/>
          </a:bodyPr>
          <a:lstStyle/>
          <a:p>
            <a:pPr algn="ctr"/>
            <a:r>
              <a:rPr sz="7500" b="1" i="0" u="none">
                <a:solidFill>
                  <a:srgbClr val="F8FAFC"/>
                </a:solidFill>
                <a:latin typeface="Poppins"/>
              </a:rPr>
              <a:t>Questions?</a:t>
            </a:r>
          </a:p>
        </p:txBody>
      </p:sp>
      <p:sp>
        <p:nvSpPr>
          <p:cNvPr id="4" name="TextBox 3"/>
          <p:cNvSpPr txBox="1"/>
          <p:nvPr/>
        </p:nvSpPr>
        <p:spPr>
          <a:xfrm>
            <a:off x="3357562" y="4025205"/>
            <a:ext cx="5476875" cy="426690"/>
          </a:xfrm>
          <a:prstGeom prst="rect">
            <a:avLst/>
          </a:prstGeom>
          <a:noFill/>
        </p:spPr>
        <p:txBody>
          <a:bodyPr wrap="square" lIns="0" tIns="0" rIns="0" bIns="0" anchor="t">
            <a:spAutoFit/>
          </a:bodyPr>
          <a:lstStyle/>
          <a:p>
            <a:pPr algn="ctr">
              <a:lnSpc>
                <a:spcPts val="3359"/>
              </a:lnSpc>
            </a:pPr>
            <a:r>
              <a:rPr sz="2100" b="0" i="0" u="none">
                <a:solidFill>
                  <a:srgbClr val="CBD5E1"/>
                </a:solidFill>
                <a:latin typeface="Lato"/>
              </a:rPr>
              <a:t>Thank you for your time and attention.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TotalTime>
  <Words>439</Words>
  <Application>Microsoft Office PowerPoint</Application>
  <PresentationFormat>Widescreen</PresentationFormat>
  <Paragraphs>46</Paragraphs>
  <Slides>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Calibri</vt:lpstr>
      <vt:lpstr>Lato</vt:lpstr>
      <vt:lpstr>Lato Medium</vt:lpstr>
      <vt:lpstr>Poppins</vt:lpstr>
      <vt:lpstr>Poppins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CHRISTIANA</dc:creator>
  <cp:keywords/>
  <dc:description>generated using python-pptx</dc:description>
  <cp:lastModifiedBy>Christiana Ibrahim</cp:lastModifiedBy>
  <cp:revision>2</cp:revision>
  <dcterms:created xsi:type="dcterms:W3CDTF">2013-01-27T09:14:16Z</dcterms:created>
  <dcterms:modified xsi:type="dcterms:W3CDTF">2026-07-31T18:04:26Z</dcterms:modified>
  <cp:category/>
</cp:coreProperties>
</file>